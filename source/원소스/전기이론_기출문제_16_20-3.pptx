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0"/>
  </p:notesMasterIdLst>
  <p:sldIdLst>
    <p:sldId id="311" r:id="rId2"/>
    <p:sldId id="364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15EB"/>
    <a:srgbClr val="3824CC"/>
    <a:srgbClr val="FF9900"/>
    <a:srgbClr val="30BCE8"/>
    <a:srgbClr val="21E606"/>
    <a:srgbClr val="34D252"/>
    <a:srgbClr val="7BE1B3"/>
    <a:srgbClr val="05C741"/>
    <a:srgbClr val="70CE77"/>
    <a:srgbClr val="C20E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68" autoAdjust="0"/>
    <p:restoredTop sz="84655" autoAdjust="0"/>
  </p:normalViewPr>
  <p:slideViewPr>
    <p:cSldViewPr>
      <p:cViewPr varScale="1">
        <p:scale>
          <a:sx n="138" d="100"/>
          <a:sy n="138" d="100"/>
        </p:scale>
        <p:origin x="2672" y="8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3316"/>
          </a:xfrm>
          <a:prstGeom prst="rect">
            <a:avLst/>
          </a:prstGeom>
        </p:spPr>
        <p:txBody>
          <a:bodyPr vert="horz" lIns="94850" tIns="47426" rIns="94850" bIns="47426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3316"/>
          </a:xfrm>
          <a:prstGeom prst="rect">
            <a:avLst/>
          </a:prstGeom>
        </p:spPr>
        <p:txBody>
          <a:bodyPr vert="horz" lIns="94850" tIns="47426" rIns="94850" bIns="47426" rtlCol="0"/>
          <a:lstStyle>
            <a:lvl1pPr algn="r">
              <a:defRPr sz="1300"/>
            </a:lvl1pPr>
          </a:lstStyle>
          <a:p>
            <a:fld id="{4BFC2189-E080-4B6F-AE80-71954645DAAF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39775"/>
            <a:ext cx="4929187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0" tIns="47426" rIns="94850" bIns="4742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4850" tIns="47426" rIns="94850" bIns="47426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1" cy="493316"/>
          </a:xfrm>
          <a:prstGeom prst="rect">
            <a:avLst/>
          </a:prstGeom>
        </p:spPr>
        <p:txBody>
          <a:bodyPr vert="horz" lIns="94850" tIns="47426" rIns="94850" bIns="47426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1" cy="493316"/>
          </a:xfrm>
          <a:prstGeom prst="rect">
            <a:avLst/>
          </a:prstGeom>
        </p:spPr>
        <p:txBody>
          <a:bodyPr vert="horz" lIns="94850" tIns="47426" rIns="94850" bIns="47426" rtlCol="0" anchor="b"/>
          <a:lstStyle>
            <a:lvl1pPr algn="r">
              <a:defRPr sz="1300"/>
            </a:lvl1pPr>
          </a:lstStyle>
          <a:p>
            <a:fld id="{B78DFE90-C0A4-4E06-B870-59F38991FA9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2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4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700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655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246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737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588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34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675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855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097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676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763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939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707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31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243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95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995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169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36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166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383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38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1085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0006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018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6315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DFE90-C0A4-4E06-B870-59F38991FA98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15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87608D7-F36E-4A36-A0D5-DC1CD461F6B2}" type="datetimeFigureOut">
              <a:rPr lang="ko-KR" altLang="en-US" smtClean="0"/>
              <a:pPr/>
              <a:t>2025-10-16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9388D85-504A-4B09-B9E8-4F0C75DD2C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1.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동일한 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접속하여 얻을 수 있는 최대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저항값은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최소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저항값의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몇 배인가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① 2     ② 4     ③ 8     ④ 16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2. 1[Ω•m]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[Ω•cm]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② 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③ 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④ 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-6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공기 중에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20[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1[m]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간격으로 놓을 때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발생되는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정전력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1.8     ② 2.2     ③ 4.4     ④ 6.3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회로의 접속점에서 볼 때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접속점에 흘러 들어오는 전류의 합은 흘러 나가는 전류의 합과 같다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라고 정의되는 법칙은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법칙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②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법칙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플레밍의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오른손 법칙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앙페르의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오른나사 법칙</a:t>
            </a:r>
            <a:endParaRPr lang="en-US" altLang="ko-KR" dirty="0"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530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/>
              <p:nvPr/>
            </p:nvSpPr>
            <p:spPr>
              <a:xfrm>
                <a:off x="107504" y="404664"/>
                <a:ext cx="8957356" cy="5226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5. 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두 종류의 금속 접합부에 전류를 흘리면 전류의 방향에 따라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줄열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이외의 열의 흡수 또는 발생 현상이 생긴다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이러한 현상을 무엇이라고 하는가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제베크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효과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②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페란티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효과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③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펠티에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효과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④ 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초전도 효과</a:t>
                </a:r>
                <a:endParaRPr lang="en-US" altLang="ko-KR" dirty="0">
                  <a:latin typeface="HY견명조" panose="02030600000101010101" pitchFamily="18" charset="-127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HY견명조" panose="02030600000101010101" pitchFamily="18" charset="-127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HY견명조" panose="02030600000101010101" pitchFamily="18" charset="-127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6. +</a:t>
                </a:r>
                <a:r>
                  <a:rPr lang="en-US" altLang="ko-KR" i="1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Q</a:t>
                </a:r>
                <a:r>
                  <a:rPr lang="en-US" altLang="ko-KR" baseline="-25000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[C]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과 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–</a:t>
                </a:r>
                <a:r>
                  <a:rPr lang="en-US" altLang="ko-KR" i="1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Q</a:t>
                </a:r>
                <a:r>
                  <a:rPr lang="en-US" altLang="ko-KR" baseline="-25000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[C]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전하가 진공 중에서 </a:t>
                </a:r>
                <a:r>
                  <a:rPr lang="en-US" altLang="ko-KR" i="1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r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[m]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거리에 있을 때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이들 사이에 작용하는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정전기력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F[N]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400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240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9 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10−7 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altLang="ko-KR" sz="24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sz="2400" b="0" i="1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altLang="ko-KR" sz="24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2400" b="0" i="0" baseline="30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②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ko-KR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F</m:t>
                    </m:r>
                    <m:r>
                      <m:rPr>
                        <m:nor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9 </m:t>
                    </m:r>
                    <m:r>
                      <m:rPr>
                        <m:nor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10−9 </m:t>
                    </m:r>
                    <m:r>
                      <m:rPr>
                        <m:nor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kumimoji="0" lang="en-US" altLang="ko-KR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kumimoji="0" lang="en-US" altLang="ko-KR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ko-KR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kumimoji="0" lang="en-US" altLang="ko-KR" sz="2400" b="0" i="0" u="none" strike="noStrike" kern="1200" cap="none" spc="0" normalizeH="0" baseline="-2500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kumimoji="0" lang="en-US" altLang="ko-KR" sz="2400" b="0" i="1" u="none" strike="noStrike" kern="1200" cap="none" spc="0" normalizeH="0" baseline="-2500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ko-KR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kumimoji="0" lang="en-US" altLang="ko-KR" sz="2400" b="0" i="0" u="none" strike="noStrike" kern="1200" cap="none" spc="0" normalizeH="0" baseline="-2500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ko-KR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kumimoji="0" lang="en-US" altLang="ko-KR" sz="2400" b="0" i="0" u="none" strike="noStrike" kern="1200" cap="none" spc="0" normalizeH="0" baseline="3000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0" lang="en-US" altLang="ko-KR" sz="2400" b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Y견명조" panose="02030600000101010101" pitchFamily="18" charset="-127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③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400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240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9 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109 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altLang="ko-KR" sz="24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sz="2400" b="0" i="1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altLang="ko-KR" sz="24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2400" b="0" i="0" baseline="30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2400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ko-KR" dirty="0">
                  <a:latin typeface="HY견명조" panose="02030600000101010101" pitchFamily="18" charset="-127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④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400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240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9 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1010 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ko-KR" sz="24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altLang="ko-KR" sz="24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sz="2400" b="0" i="1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altLang="ko-KR" sz="24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24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2400" b="0" i="0" baseline="30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sz="2400" baseline="30000" dirty="0">
                  <a:latin typeface="HY견명조" panose="02030600000101010101" pitchFamily="18" charset="-127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HY견명조" panose="02030600000101010101" pitchFamily="18" charset="-127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7. 3[V]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기전력으로 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300[C]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전기량이 이동할 때 몇 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[J]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일을 하게 되는가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제베크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효과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②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페란티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효과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③ </a:t>
                </a:r>
                <a:r>
                  <a:rPr lang="ko-KR" altLang="en-US" dirty="0" err="1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펠티에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효과</a:t>
                </a:r>
                <a:r>
                  <a:rPr lang="en-US" altLang="ko-KR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④ </a:t>
                </a:r>
                <a:r>
                  <a:rPr lang="ko-KR" altLang="en-US" dirty="0">
                    <a:latin typeface="HY견명조" panose="02030600000101010101" pitchFamily="18" charset="-127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초전도 효과</a:t>
                </a:r>
                <a:endParaRPr lang="en-US" altLang="ko-KR" dirty="0">
                  <a:latin typeface="HY견명조" panose="02030600000101010101" pitchFamily="18" charset="-127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4664"/>
                <a:ext cx="8957356" cy="5226815"/>
              </a:xfrm>
              <a:prstGeom prst="rect">
                <a:avLst/>
              </a:prstGeom>
              <a:blipFill>
                <a:blip r:embed="rId4"/>
                <a:stretch>
                  <a:fillRect l="-613" t="-583" b="-8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54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8.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다음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( )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안의 알맞은 내용으로 옳은 것은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   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회로에 흐르는 전류의 크기는 저항에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㉠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하고 가해진 전압에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㉡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한다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㉠ 비례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㉡ 비례       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㉠ 비례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㉡ 반비례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㉠ 반비례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㉡ 비례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    ④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㉠ 반비례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㉡ 반비례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9. 2[</a:t>
            </a:r>
            <a:r>
              <a:rPr lang="ko-KR" altLang="ko-KR" i="1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F], 3[</a:t>
            </a:r>
            <a:r>
              <a:rPr lang="ko-KR" altLang="ko-KR" i="1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F], 5[</a:t>
            </a:r>
            <a:r>
              <a:rPr lang="ko-KR" altLang="ko-KR" i="1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개의 콘덴서가 병렬로 접속되었을 때의 합성 정전용량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</a:t>
            </a:r>
            <a:r>
              <a:rPr lang="ko-KR" altLang="ko-KR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① 0.97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② 3       ③ 5     ④ 10</a:t>
            </a: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초산은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(AgNO</a:t>
            </a:r>
            <a:r>
              <a:rPr lang="en-US" altLang="ko-KR" baseline="-25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용액에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 동안 흘렸다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 때 은의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석출량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[g]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은의 전기 화학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당량은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1.1×10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[g/C]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① 5.44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  <a:cs typeface="Times New Roman" panose="02020603050405020304" pitchFamily="18" charset="0"/>
              </a:rPr>
              <a:t>② 6.08       ③ 7.92        ④ 9.84</a:t>
            </a: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44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/>
              <p:nvPr/>
            </p:nvSpPr>
            <p:spPr>
              <a:xfrm>
                <a:off x="107504" y="404664"/>
                <a:ext cx="8957356" cy="5518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11. R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], R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], R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3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저항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3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개를 직렬로 접속했을 때의 합성 저항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US" altLang="ko-KR" sz="18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80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800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8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18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sz="1800" b="0" i="1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8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18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n-US" altLang="ko-KR" sz="1800" b="0" i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1800" b="0" i="0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8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1800" b="0" i="1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sz="18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altLang="ko-KR" sz="18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1800" b="0" i="1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ko-KR" sz="18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altLang="ko-KR" sz="1800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sz="1800" b="0" i="1" baseline="-2500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US" altLang="ko-KR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baseline="-250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i="1" baseline="-250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b="0" i="1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baseline="-250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n-US" altLang="ko-KR" b="0" i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n-US" altLang="ko-KR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baseline="-250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i="1" baseline="-250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i="1" baseline="-250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ko-KR" i="1" baseline="-250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③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ko-KR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ko-KR" b="0" i="1" baseline="-25000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ko-KR" b="0" i="1" baseline="-25000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ko-KR" b="0" i="1" baseline="-25000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④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1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ko-KR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ko-KR" i="1" baseline="-2500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ko-KR" i="1" baseline="-2500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ko-KR" i="1" baseline="-25000">
                        <a:latin typeface="Cambria Math" panose="020405030504060302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12.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진공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중에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10[</a:t>
                </a:r>
                <a:r>
                  <a:rPr lang="el-GR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C]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과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20[</a:t>
                </a:r>
                <a:r>
                  <a:rPr lang="el-GR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C]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점전하를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1[m]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거리로 놓았을 때 작용하는 힘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[N]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18×10</a:t>
                </a:r>
                <a:r>
                  <a:rPr lang="en-US" altLang="ko-KR" baseline="30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-1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2×10</a:t>
                </a:r>
                <a:r>
                  <a:rPr lang="en-US" altLang="ko-KR" baseline="30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-2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③ 9.8×10</a:t>
                </a:r>
                <a:r>
                  <a:rPr lang="en-US" altLang="ko-KR" baseline="30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-9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④ 98×10</a:t>
                </a:r>
                <a:r>
                  <a:rPr lang="en-US" altLang="ko-KR" baseline="30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-9</a:t>
                </a:r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13.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초산은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(AgNO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3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용액에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1[A]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전류를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시간 동안 흘렸다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이 때 은의 </a:t>
                </a:r>
                <a:r>
                  <a:rPr lang="ko-KR" altLang="en-US" dirty="0" err="1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석출량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[g]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단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은의 전기 화학 </a:t>
                </a:r>
                <a:r>
                  <a:rPr lang="ko-KR" altLang="en-US" dirty="0" err="1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당량은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1.1×10</a:t>
                </a:r>
                <a:r>
                  <a:rPr lang="en-US" altLang="ko-KR" baseline="30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-3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[g/C]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이다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5.44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6.08       ③ 7.92        ④ 9.84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14. 3[kW]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전열기를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1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시간 동안 사용할 때 발생하는 열량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[kcal]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3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180       ③ 860        ④ 2,580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4664"/>
                <a:ext cx="8957356" cy="5518114"/>
              </a:xfrm>
              <a:prstGeom prst="rect">
                <a:avLst/>
              </a:prstGeom>
              <a:blipFill>
                <a:blip r:embed="rId4"/>
                <a:stretch>
                  <a:fillRect l="-613" t="-773" r="-12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157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15.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비유전율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2.5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유전체 내부의 전속밀도가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[C/m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되는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점의 전기장의  세기는 약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[V/m]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18×10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9×10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16.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전력량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1[</a:t>
            </a:r>
            <a:r>
              <a:rPr lang="en-US" altLang="ko-KR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Wh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와 그 의미가 같은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1[C]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1[J]       ③ 3,600[C]        ④ 3,600[J]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17.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전기력선에 대한 설명으로 틀린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같은 전기력선은 흡인한다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서로 교차하지 않는다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도체의 표면에 수직으로 출입한다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양전하의 표면에서 나와서 음전하의 표면에서 끝난다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71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 분해를 하면 석출되는 물질의 양은 통과한 전기량에 관계가 있다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 것을 나타낸 법칙은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옴의 법칙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쿨롱의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법칙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앙페르의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법칙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패러데이의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법칙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19.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고유 저항 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ρ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단위로 맞는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l-GR" altLang="ko-KR" dirty="0">
                <a:latin typeface="굴림" panose="020B0600000101010101" pitchFamily="50" charset="-127"/>
                <a:ea typeface="굴림" panose="020B0600000101010101" pitchFamily="50" charset="-127"/>
                <a:cs typeface="Times New Roman" panose="02020603050405020304" pitchFamily="18" charset="0"/>
              </a:rPr>
              <a:t>•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  <a:cs typeface="Times New Roman" panose="02020603050405020304" pitchFamily="18" charset="0"/>
              </a:rPr>
              <a:t>m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AT/Wb        ④ 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-1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다음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회로의 합성 정전 용량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</a:t>
            </a:r>
            <a:r>
              <a:rPr lang="el-GR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?</a:t>
            </a: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E53D6C-C436-4879-B198-019600460B06}"/>
              </a:ext>
            </a:extLst>
          </p:cNvPr>
          <p:cNvGrpSpPr/>
          <p:nvPr/>
        </p:nvGrpSpPr>
        <p:grpSpPr>
          <a:xfrm rot="16200000">
            <a:off x="1564797" y="4674281"/>
            <a:ext cx="504000" cy="106218"/>
            <a:chOff x="1835696" y="4437112"/>
            <a:chExt cx="504000" cy="106218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889501B-DBF1-43CC-BE8B-8A55CCBF2988}"/>
                </a:ext>
              </a:extLst>
            </p:cNvPr>
            <p:cNvCxnSpPr/>
            <p:nvPr/>
          </p:nvCxnSpPr>
          <p:spPr>
            <a:xfrm rot="5400000" flipH="1" flipV="1">
              <a:off x="2087696" y="4185112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2DA94FF-9955-49CE-897D-D3A446CA94CB}"/>
                </a:ext>
              </a:extLst>
            </p:cNvPr>
            <p:cNvCxnSpPr/>
            <p:nvPr/>
          </p:nvCxnSpPr>
          <p:spPr>
            <a:xfrm rot="5400000" flipH="1" flipV="1">
              <a:off x="2087696" y="4291330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CDEBAF3-40AF-40DD-9CC7-5EB1F984973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331688" y="4292607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9773AA2-2DEE-4365-9CAB-1BB2445ED90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25946" y="4299084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29CD014-FDD1-4725-A3C0-208D4631BAAA}"/>
              </a:ext>
            </a:extLst>
          </p:cNvPr>
          <p:cNvGrpSpPr/>
          <p:nvPr/>
        </p:nvGrpSpPr>
        <p:grpSpPr>
          <a:xfrm rot="16200000">
            <a:off x="3387057" y="3869938"/>
            <a:ext cx="504000" cy="106218"/>
            <a:chOff x="1835696" y="4437112"/>
            <a:chExt cx="504000" cy="106218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37D2517-4B55-48E3-94AB-426DDA26F9E9}"/>
                </a:ext>
              </a:extLst>
            </p:cNvPr>
            <p:cNvCxnSpPr/>
            <p:nvPr/>
          </p:nvCxnSpPr>
          <p:spPr>
            <a:xfrm rot="5400000" flipH="1" flipV="1">
              <a:off x="2087696" y="4185112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59A8253-F61A-44DB-9607-F48A8FA3A569}"/>
                </a:ext>
              </a:extLst>
            </p:cNvPr>
            <p:cNvCxnSpPr/>
            <p:nvPr/>
          </p:nvCxnSpPr>
          <p:spPr>
            <a:xfrm rot="5400000" flipH="1" flipV="1">
              <a:off x="2087696" y="4291330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A06BAA9-D8DB-4E94-B5FE-C107D0399706}"/>
              </a:ext>
            </a:extLst>
          </p:cNvPr>
          <p:cNvCxnSpPr>
            <a:cxnSpLocks/>
          </p:cNvCxnSpPr>
          <p:nvPr/>
        </p:nvCxnSpPr>
        <p:spPr>
          <a:xfrm flipH="1" flipV="1">
            <a:off x="2694052" y="3872352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6D1ED56-B0D9-47BE-8846-149C1784478B}"/>
              </a:ext>
            </a:extLst>
          </p:cNvPr>
          <p:cNvCxnSpPr>
            <a:cxnSpLocks/>
          </p:cNvCxnSpPr>
          <p:nvPr/>
        </p:nvCxnSpPr>
        <p:spPr>
          <a:xfrm flipH="1" flipV="1">
            <a:off x="2694052" y="4699006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A2120EB6-4741-4A86-A81D-A4F0EC648C78}"/>
              </a:ext>
            </a:extLst>
          </p:cNvPr>
          <p:cNvSpPr/>
          <p:nvPr/>
        </p:nvSpPr>
        <p:spPr>
          <a:xfrm flipH="1">
            <a:off x="2597123" y="463298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5202D95-A448-4C1F-BEC4-5FBA58BA397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123543" y="3475189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BF670D3-3F35-450F-BA17-7426DEDDE675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130306" y="3484426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6516E27-07DA-404A-B925-9507C8FDF720}"/>
              </a:ext>
            </a:extLst>
          </p:cNvPr>
          <p:cNvGrpSpPr/>
          <p:nvPr/>
        </p:nvGrpSpPr>
        <p:grpSpPr>
          <a:xfrm rot="16200000">
            <a:off x="3363967" y="5500155"/>
            <a:ext cx="504000" cy="106218"/>
            <a:chOff x="1835696" y="4437112"/>
            <a:chExt cx="504000" cy="106218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8405A55-5B98-416A-9237-DC9A67D8D11B}"/>
                </a:ext>
              </a:extLst>
            </p:cNvPr>
            <p:cNvCxnSpPr/>
            <p:nvPr/>
          </p:nvCxnSpPr>
          <p:spPr>
            <a:xfrm rot="5400000" flipH="1" flipV="1">
              <a:off x="2087696" y="4185112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49D58-873B-4ED8-9A2D-4AE9FB7DFF14}"/>
                </a:ext>
              </a:extLst>
            </p:cNvPr>
            <p:cNvCxnSpPr/>
            <p:nvPr/>
          </p:nvCxnSpPr>
          <p:spPr>
            <a:xfrm rot="5400000" flipH="1" flipV="1">
              <a:off x="2087696" y="4291330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20F875F-B02D-444D-BFBD-0DCA3324722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100453" y="5105406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0514B68-E99F-4D7E-BE4F-5B56AAFD33B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107216" y="5114643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474CB83-0DB6-4ABB-8915-5D1429A3A7DF}"/>
              </a:ext>
            </a:extLst>
          </p:cNvPr>
          <p:cNvCxnSpPr>
            <a:cxnSpLocks/>
          </p:cNvCxnSpPr>
          <p:nvPr/>
        </p:nvCxnSpPr>
        <p:spPr>
          <a:xfrm flipH="1" flipV="1">
            <a:off x="4550561" y="3890825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76CFA67-1704-48D2-BD3D-0C7645ABAC96}"/>
              </a:ext>
            </a:extLst>
          </p:cNvPr>
          <p:cNvCxnSpPr>
            <a:cxnSpLocks/>
          </p:cNvCxnSpPr>
          <p:nvPr/>
        </p:nvCxnSpPr>
        <p:spPr>
          <a:xfrm flipH="1" flipV="1">
            <a:off x="4550561" y="4717479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AB65FDA0-90B3-4780-AD83-B16583F3758F}"/>
              </a:ext>
            </a:extLst>
          </p:cNvPr>
          <p:cNvSpPr/>
          <p:nvPr/>
        </p:nvSpPr>
        <p:spPr>
          <a:xfrm flipH="1">
            <a:off x="4453632" y="4651454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A03CD06-1C2A-4643-B369-7553687F42F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004491" y="4299084"/>
            <a:ext cx="0" cy="86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D2C1AF72-038C-46C8-A932-C0F8CC0884E2}"/>
              </a:ext>
            </a:extLst>
          </p:cNvPr>
          <p:cNvSpPr/>
          <p:nvPr/>
        </p:nvSpPr>
        <p:spPr>
          <a:xfrm flipH="1">
            <a:off x="5432687" y="4646836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D80F60-9AB1-4E8B-9E1E-5CDB2A8EAAEB}"/>
              </a:ext>
            </a:extLst>
          </p:cNvPr>
          <p:cNvSpPr txBox="1"/>
          <p:nvPr/>
        </p:nvSpPr>
        <p:spPr>
          <a:xfrm>
            <a:off x="3735594" y="3374166"/>
            <a:ext cx="662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D5F2CD-6085-4925-B01C-4B3BE8527F23}"/>
              </a:ext>
            </a:extLst>
          </p:cNvPr>
          <p:cNvSpPr txBox="1"/>
          <p:nvPr/>
        </p:nvSpPr>
        <p:spPr>
          <a:xfrm>
            <a:off x="3793372" y="5661924"/>
            <a:ext cx="662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</a:t>
            </a:r>
            <a:r>
              <a:rPr lang="en-US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4E3505-8F0C-4211-B4B3-42C5E554BA99}"/>
              </a:ext>
            </a:extLst>
          </p:cNvPr>
          <p:cNvSpPr txBox="1"/>
          <p:nvPr/>
        </p:nvSpPr>
        <p:spPr>
          <a:xfrm>
            <a:off x="1501058" y="4002698"/>
            <a:ext cx="662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733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21.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쿨롱의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법칙에서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개의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점전하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사이에 작용하는 정전력의 크기는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전하의 곱에 비례하고 거리에 반비례한다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전하의 곱에 반비례하고 거리에 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전하의 곱에 비례하고 거리의 제곱에 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전하의 곱에 비례하고 거리의 제곱에 반비례한다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22.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다음은 전기력선의 성질이다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틀린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전기력선의 밀도는 전기장의 크기를 나타낸다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같은 전기력선은 서로 끌어 당긴다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서로 교차하지 않는다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도체의 표면에 수직이다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23. 2[</a:t>
            </a:r>
            <a:r>
              <a:rPr lang="ko-K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을 병렬로 접속하여 흐르는 전류는 직렬로 접속하여 흐르는 전류의 몇 배인가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인가해 준 전압은 동일하다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.)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3.3       ③ 4.17        ④ 5</a:t>
            </a: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039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24.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기전력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1.5[V],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내부 저항이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], 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직렬로 접속하고 부하 저항을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을 접속한 경우 부하에 흐르는 전류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3       ③ 4        ④ 5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25.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공기 중에서 양전하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음전하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1[m]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떨어져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있을 때 작용하는 힘의 크기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5.4[N],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흡인력이 작용한다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5.4[N],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반발력이 작용한다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7/9[N],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흡인력이 작용한다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7/9[N],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반발력이 작용한다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26. 200[V], 60[W],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전등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 사용하였다면 사용 전력량은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[kWh]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12       ③ 24        ④ 11</a:t>
            </a: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732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27.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전기장 중에 단위 전하는 놓았을 때 그것에 작용하는 힘은 어느 값과 같은가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전장의 세기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전위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전위차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]. 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접속하여 합성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저항값이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최소값을 얻으려면 어떻게 접속해야 하는가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병렬접속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직렬 접속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직렬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병렬 접속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브리지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29.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황산구리 용액에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분간 흘린 경우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이떄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석출되는 구리의 양은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구리의 전기 화학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당량은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0.3293×10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[g/C]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.)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5.93[g]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11.86[g]       ③ 7.82[g]        ④ 1.67[g]</a:t>
            </a: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30. 1[kWh]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와 같은 값은 어느 것인가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31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31.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법칙을 이용하여 방정식을 세우는 방법으로 잘못된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계산 결과 전류가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+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로 표시된 것은 처음에 정한 방향과 반대 방향임을 나타낸다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각 폐회로에서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법칙을 적용한다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각 회로의 전류를 문자로 나타내고 방향을 가정한다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법칙을 회로망의 임의의 점에 적용한다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32.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황산구리 용액에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분간 흘린 경우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이떄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석출되는 구리의 양은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구리의 전기 화학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당량은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0.3293×10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[g/C]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.)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5.93[g]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11.86[g]       ③ 7.82[g]        ④ 1.67[g]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33.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진공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중에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점전하를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1[m]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거리로 놓았을 때 작용하는 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18×10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2×10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9.8×10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-9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④ 98×10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-9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34.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정격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200[V], 1,000[W]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 부하에 전압을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100[V]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인가하면 소비 전력은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[W]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가 되겠는가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800      ② 600     ③ 500      ④ 250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697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35.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]. 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접속하여 합성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저항값이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최소값을 얻으려면 어떻게 접속해야 하는가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브리지접속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직렬 접속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직렬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병렬 접속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병렬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36. 1[kWh]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와 같은 값은 어느 것인가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37.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다음 전기 회로에서 전류의 흐름 방향은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3B6DF49-0F60-48EB-A39C-DDC54C26C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4178599" y="3887161"/>
            <a:ext cx="585553" cy="3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D2A8EB7-E340-4A70-9456-EE7E47E6E28C}"/>
              </a:ext>
            </a:extLst>
          </p:cNvPr>
          <p:cNvGrpSpPr/>
          <p:nvPr/>
        </p:nvGrpSpPr>
        <p:grpSpPr>
          <a:xfrm rot="5400000">
            <a:off x="2962479" y="3984504"/>
            <a:ext cx="648000" cy="151370"/>
            <a:chOff x="1943722" y="2773574"/>
            <a:chExt cx="648000" cy="15137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2BFF1B7-1277-4334-8FA6-A441398B3F8F}"/>
                </a:ext>
              </a:extLst>
            </p:cNvPr>
            <p:cNvCxnSpPr/>
            <p:nvPr/>
          </p:nvCxnSpPr>
          <p:spPr>
            <a:xfrm rot="5400000" flipH="1" flipV="1">
              <a:off x="2267722" y="2449574"/>
              <a:ext cx="0" cy="64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429F0F8-91BC-4216-A6C9-3EE83DFA1A48}"/>
                </a:ext>
              </a:extLst>
            </p:cNvPr>
            <p:cNvCxnSpPr/>
            <p:nvPr/>
          </p:nvCxnSpPr>
          <p:spPr>
            <a:xfrm rot="5400000" flipH="1" flipV="1">
              <a:off x="2273140" y="2816944"/>
              <a:ext cx="0" cy="216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CCA6E1E-ED6B-4827-8FFF-DE1E8DD875D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833668" y="3688782"/>
            <a:ext cx="0" cy="72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AE81AD-1B08-4AB2-8EF2-D657FFBF9731}"/>
              </a:ext>
            </a:extLst>
          </p:cNvPr>
          <p:cNvSpPr txBox="1"/>
          <p:nvPr/>
        </p:nvSpPr>
        <p:spPr>
          <a:xfrm>
            <a:off x="3121312" y="4369871"/>
            <a:ext cx="1450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25 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D802F-FBC4-450E-A8C5-179E7F3739EE}"/>
              </a:ext>
            </a:extLst>
          </p:cNvPr>
          <p:cNvSpPr txBox="1"/>
          <p:nvPr/>
        </p:nvSpPr>
        <p:spPr>
          <a:xfrm>
            <a:off x="4227287" y="4927923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5 Ω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8E9D782-A3CD-4D31-BAC5-257AF1C614A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538907" y="4038934"/>
            <a:ext cx="0" cy="54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E8077BF-21B6-4587-A0AD-B722B9AE532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797036" y="3634782"/>
            <a:ext cx="0" cy="82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D53018F-AAE0-45C5-983F-95E4440CB35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145545" y="3630164"/>
            <a:ext cx="0" cy="82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>
            <a:extLst>
              <a:ext uri="{FF2B5EF4-FFF2-40B4-BE49-F238E27FC236}">
                <a16:creationId xmlns:a16="http://schemas.microsoft.com/office/drawing/2014/main" id="{265AF73E-39F9-475D-8D7E-E506C708E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253118" y="4667438"/>
            <a:ext cx="585553" cy="3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D138344-2C06-49B6-847B-92B8243950D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520434" y="5119588"/>
            <a:ext cx="0" cy="54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E0E83B-130C-45CA-8149-CE88D54D51A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104261" y="5221134"/>
            <a:ext cx="0" cy="82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>
            <a:extLst>
              <a:ext uri="{FF2B5EF4-FFF2-40B4-BE49-F238E27FC236}">
                <a16:creationId xmlns:a16="http://schemas.microsoft.com/office/drawing/2014/main" id="{84C6DE4C-737A-4CE7-871E-6CA139ECF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4104708" y="5411161"/>
            <a:ext cx="585553" cy="3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A3D8476B-98FA-4650-8312-A2BB9A99C8DD}"/>
              </a:ext>
            </a:extLst>
          </p:cNvPr>
          <p:cNvGrpSpPr/>
          <p:nvPr/>
        </p:nvGrpSpPr>
        <p:grpSpPr>
          <a:xfrm rot="5400000">
            <a:off x="2881503" y="5524822"/>
            <a:ext cx="648000" cy="151370"/>
            <a:chOff x="1943722" y="2773574"/>
            <a:chExt cx="648000" cy="15137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4E46E2F-D607-4624-AF4D-6EEAA7A2CF75}"/>
                </a:ext>
              </a:extLst>
            </p:cNvPr>
            <p:cNvCxnSpPr/>
            <p:nvPr/>
          </p:nvCxnSpPr>
          <p:spPr>
            <a:xfrm rot="5400000" flipH="1" flipV="1">
              <a:off x="2267722" y="2449574"/>
              <a:ext cx="0" cy="64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1EBEEEA-4509-47C9-8D1C-5B6392554B98}"/>
                </a:ext>
              </a:extLst>
            </p:cNvPr>
            <p:cNvCxnSpPr/>
            <p:nvPr/>
          </p:nvCxnSpPr>
          <p:spPr>
            <a:xfrm rot="5400000" flipH="1" flipV="1">
              <a:off x="2273140" y="2816944"/>
              <a:ext cx="0" cy="216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CCFADA3-28E2-4A7B-A63E-D25A6349632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700334" y="5193425"/>
            <a:ext cx="0" cy="82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A72F1B8-1796-4CDF-8A09-F6F41D991C2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820819" y="5299109"/>
            <a:ext cx="0" cy="61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377B579-C815-436B-A0DC-BC5C45FCD8D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98512" y="4048506"/>
            <a:ext cx="0" cy="158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2F2F2B1-18BB-4DBC-A547-B86A2E607550}"/>
              </a:ext>
            </a:extLst>
          </p:cNvPr>
          <p:cNvSpPr txBox="1"/>
          <p:nvPr/>
        </p:nvSpPr>
        <p:spPr>
          <a:xfrm>
            <a:off x="3306623" y="5734901"/>
            <a:ext cx="1450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50 V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02CC4-69F4-495D-88B3-1297EBDC45D3}"/>
              </a:ext>
            </a:extLst>
          </p:cNvPr>
          <p:cNvSpPr txBox="1"/>
          <p:nvPr/>
        </p:nvSpPr>
        <p:spPr>
          <a:xfrm>
            <a:off x="5707719" y="4594684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3 Ω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9C8B43-F66C-40A0-90BA-B8AABFA77640}"/>
              </a:ext>
            </a:extLst>
          </p:cNvPr>
          <p:cNvSpPr txBox="1"/>
          <p:nvPr/>
        </p:nvSpPr>
        <p:spPr>
          <a:xfrm>
            <a:off x="4104707" y="3437108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2 Ω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3FAA1-B3B4-4008-933D-059FF6D18704}"/>
              </a:ext>
            </a:extLst>
          </p:cNvPr>
          <p:cNvSpPr txBox="1"/>
          <p:nvPr/>
        </p:nvSpPr>
        <p:spPr>
          <a:xfrm>
            <a:off x="6405178" y="3741751"/>
            <a:ext cx="2684525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시계 방향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반시계 방향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흐르지 않는다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시계방향으로 흘렀다가 반시계 방향으로 흐른다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92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황산구리 용액에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분간 흘린 경우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이떄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석출되는 구리의 양은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구리의 전기 화학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당량은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0.3293×10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[g/C]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.)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5.93[g]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11.86[g]       ③ 7.82[g]        ④ 1.67[g]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39.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도체의 전기 저항에 대한 것으로 옳은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길이와 단면적에 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길이와 단면적에 반비례한다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길이에 비례하고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단면적에 반비례한다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길이에 반비례하고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단면적에 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40.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법칙을 이용하여 방정식을 세우는 방법으로 잘못된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계산 결과 전류가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+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로 표시된 것은 처음에 정한 방향과 반대 방향임을 나타낸다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각 폐회로에서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법칙을 적용한다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각 회로의 전류를 문자로 나타내고 방향을 가정한다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키르히호프의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법칙을 회로망의 임의의 점에 적용한다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41.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다음은 전기력선의 성질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중 틀린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전기력선의 밀도는 전기장의 크기를 나타낸다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같은 전기력선은 서로 끌어 당긴다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서로 교차하지 않는다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도체의 표면에 수직이다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350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/>
              <p:nvPr/>
            </p:nvSpPr>
            <p:spPr>
              <a:xfrm>
                <a:off x="107504" y="404664"/>
                <a:ext cx="8957356" cy="4137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42.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다음 회로에서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B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점의 전위가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10[V], D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점의 전위가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60[V]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라면 전류 </a:t>
                </a:r>
                <a:r>
                  <a:rPr lang="en-US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는 몇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[A]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인가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b="0" i="0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20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b="0" i="0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nor/>
                      </m:rPr>
                      <a:rPr lang="en-US" altLang="ko-KR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[A]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b="0" i="0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12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nor/>
                      </m:rPr>
                      <a:rPr lang="en-US" altLang="ko-KR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[A]      ③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ko-KR" b="0" i="0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nor/>
                      </m:rPr>
                      <a:rPr lang="en-US" altLang="ko-KR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[A]      ④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b="0" i="0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nor/>
                      </m:rPr>
                      <a:rPr lang="en-US" altLang="ko-KR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[A]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43.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그림과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같은 회로에서 합성 저항은 몇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인가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6.6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7.4       ③ 8.7        ④ 9.4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4664"/>
                <a:ext cx="8957356" cy="4137608"/>
              </a:xfrm>
              <a:prstGeom prst="rect">
                <a:avLst/>
              </a:prstGeom>
              <a:blipFill>
                <a:blip r:embed="rId4"/>
                <a:stretch>
                  <a:fillRect l="-613" t="-10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C1761ED3-E7F7-4451-82DD-073BA32CA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1763688" y="1872457"/>
            <a:ext cx="585553" cy="3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030A427-729A-42A7-B613-D5F74AEC0E3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730343" y="1609903"/>
            <a:ext cx="0" cy="82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C21542E-7A4A-4B40-A618-685B69F6F938}"/>
              </a:ext>
            </a:extLst>
          </p:cNvPr>
          <p:cNvSpPr/>
          <p:nvPr/>
        </p:nvSpPr>
        <p:spPr>
          <a:xfrm flipH="1">
            <a:off x="1367916" y="193390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EDFBBBE-6A3E-4ADF-B1FC-23BAC97D2B94}"/>
              </a:ext>
            </a:extLst>
          </p:cNvPr>
          <p:cNvSpPr/>
          <p:nvPr/>
        </p:nvSpPr>
        <p:spPr>
          <a:xfrm flipH="1">
            <a:off x="1001740" y="1966229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5A95FA4-0B51-4D85-915E-B91EE31774D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490889" y="1731757"/>
            <a:ext cx="0" cy="61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08883CA3-003A-4F23-8A96-3507A4D2C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3112197" y="1863220"/>
            <a:ext cx="585553" cy="3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A7D98F-D2C3-42C2-A018-7378D15E442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074233" y="1632994"/>
            <a:ext cx="0" cy="82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08583896-72F0-40A7-9077-87FC7A62F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4493033" y="1872457"/>
            <a:ext cx="585553" cy="3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F97F48A-D409-478A-B53D-CB5978470702}"/>
              </a:ext>
            </a:extLst>
          </p:cNvPr>
          <p:cNvCxnSpPr>
            <a:cxnSpLocks/>
          </p:cNvCxnSpPr>
          <p:nvPr/>
        </p:nvCxnSpPr>
        <p:spPr>
          <a:xfrm flipH="1" flipV="1">
            <a:off x="1461480" y="2034496"/>
            <a:ext cx="0" cy="61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0504023-D9D5-4A52-8DC7-96DDB19C24E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623980" y="2462267"/>
            <a:ext cx="0" cy="324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>
            <a:extLst>
              <a:ext uri="{FF2B5EF4-FFF2-40B4-BE49-F238E27FC236}">
                <a16:creationId xmlns:a16="http://schemas.microsoft.com/office/drawing/2014/main" id="{1A67AF8E-0064-42EA-B2D6-434BDEFC9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1763688" y="2445111"/>
            <a:ext cx="585553" cy="3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E5648141-5874-41F9-84B5-B822480F3394}"/>
              </a:ext>
            </a:extLst>
          </p:cNvPr>
          <p:cNvSpPr/>
          <p:nvPr/>
        </p:nvSpPr>
        <p:spPr>
          <a:xfrm flipH="1">
            <a:off x="2651770" y="1929284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1F16EAF-2F5D-460B-A5D8-0C81249AD89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532344" y="2417504"/>
            <a:ext cx="0" cy="43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B742C99-C6BE-48A5-AF03-80D6D78787DD}"/>
              </a:ext>
            </a:extLst>
          </p:cNvPr>
          <p:cNvCxnSpPr>
            <a:cxnSpLocks/>
          </p:cNvCxnSpPr>
          <p:nvPr/>
        </p:nvCxnSpPr>
        <p:spPr>
          <a:xfrm flipH="1" flipV="1">
            <a:off x="2736098" y="2052968"/>
            <a:ext cx="0" cy="61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0E5E11-D56E-46C4-9D4C-C826B7F86BE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464306" y="1628376"/>
            <a:ext cx="0" cy="82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9DCB67F0-71C5-4596-BF40-96254D64B39E}"/>
              </a:ext>
            </a:extLst>
          </p:cNvPr>
          <p:cNvSpPr/>
          <p:nvPr/>
        </p:nvSpPr>
        <p:spPr>
          <a:xfrm flipH="1">
            <a:off x="5873922" y="1961611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F2CD08-4513-4906-81DA-E48BAA86CF80}"/>
              </a:ext>
            </a:extLst>
          </p:cNvPr>
          <p:cNvSpPr txBox="1"/>
          <p:nvPr/>
        </p:nvSpPr>
        <p:spPr>
          <a:xfrm>
            <a:off x="1796889" y="1389804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3 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18F5FA-0E82-4057-BAF6-677EA63F2EB9}"/>
              </a:ext>
            </a:extLst>
          </p:cNvPr>
          <p:cNvSpPr txBox="1"/>
          <p:nvPr/>
        </p:nvSpPr>
        <p:spPr>
          <a:xfrm>
            <a:off x="1798810" y="2805936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4 Ω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84BC24-9BE0-49D5-B5F6-8891E60696E7}"/>
              </a:ext>
            </a:extLst>
          </p:cNvPr>
          <p:cNvSpPr txBox="1"/>
          <p:nvPr/>
        </p:nvSpPr>
        <p:spPr>
          <a:xfrm>
            <a:off x="3059832" y="1364990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5 Ω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64D80F-85D4-4B16-9160-FAE11250AD5D}"/>
              </a:ext>
            </a:extLst>
          </p:cNvPr>
          <p:cNvSpPr txBox="1"/>
          <p:nvPr/>
        </p:nvSpPr>
        <p:spPr>
          <a:xfrm>
            <a:off x="4488233" y="1370408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3 Ω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696D4A5-1DCD-4EB9-BDF9-D61CC1343B09}"/>
              </a:ext>
            </a:extLst>
          </p:cNvPr>
          <p:cNvSpPr/>
          <p:nvPr/>
        </p:nvSpPr>
        <p:spPr>
          <a:xfrm flipH="1">
            <a:off x="4075023" y="1956993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718189-E890-4925-8AAC-4656A8262CD4}"/>
              </a:ext>
            </a:extLst>
          </p:cNvPr>
          <p:cNvSpPr txBox="1"/>
          <p:nvPr/>
        </p:nvSpPr>
        <p:spPr>
          <a:xfrm>
            <a:off x="1197153" y="1466288"/>
            <a:ext cx="58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09A174-6AF2-4324-B024-DEDBFD8B631F}"/>
              </a:ext>
            </a:extLst>
          </p:cNvPr>
          <p:cNvSpPr txBox="1"/>
          <p:nvPr/>
        </p:nvSpPr>
        <p:spPr>
          <a:xfrm>
            <a:off x="2532344" y="1455271"/>
            <a:ext cx="58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2F4ECA-E0E8-42A4-A2DB-E18E32CC9F20}"/>
              </a:ext>
            </a:extLst>
          </p:cNvPr>
          <p:cNvSpPr txBox="1"/>
          <p:nvPr/>
        </p:nvSpPr>
        <p:spPr>
          <a:xfrm>
            <a:off x="3953103" y="1446113"/>
            <a:ext cx="58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09110A-0549-4D67-B522-7D1142B5B0CC}"/>
              </a:ext>
            </a:extLst>
          </p:cNvPr>
          <p:cNvSpPr txBox="1"/>
          <p:nvPr/>
        </p:nvSpPr>
        <p:spPr>
          <a:xfrm>
            <a:off x="5274925" y="1417957"/>
            <a:ext cx="58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B7A2F61-A616-400D-BFF3-9DD60760080A}"/>
              </a:ext>
            </a:extLst>
          </p:cNvPr>
          <p:cNvGrpSpPr/>
          <p:nvPr/>
        </p:nvGrpSpPr>
        <p:grpSpPr>
          <a:xfrm>
            <a:off x="1034941" y="3930352"/>
            <a:ext cx="5643309" cy="2327493"/>
            <a:chOff x="1034941" y="3930352"/>
            <a:chExt cx="5643309" cy="2327493"/>
          </a:xfrm>
        </p:grpSpPr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A0B09075-CC20-40EC-AED4-B8A1FC40FF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474279" y="4347338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892AB5-956B-4184-A6FC-31F48269806A}"/>
                </a:ext>
              </a:extLst>
            </p:cNvPr>
            <p:cNvSpPr/>
            <p:nvPr/>
          </p:nvSpPr>
          <p:spPr>
            <a:xfrm flipH="1">
              <a:off x="1034941" y="5094528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69E2FCE0-059F-4951-8434-DA9CA8B3FE55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632090" y="4752056"/>
              <a:ext cx="0" cy="82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6DF7B098-2772-477E-9F63-2B7F178A73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455567" y="5538689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58AEA35E-3DE0-423F-B138-411AD3A6E4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4744" y="4509074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A25B9FC6-7D07-4D6A-8ED0-9C201D62B5B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270243" y="4310493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8E63A3B6-712F-4AAE-9474-C249525D881E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274862" y="5501984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95EECA9-5AA5-4682-99CD-F18B976E3EBD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244679" y="429202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DF5DB59A-DF52-4D1E-AAC6-8DE077C9FBB1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249298" y="5483511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16E5194-D5FA-4F40-92AD-65EEF64DCF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671" y="4485983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5EF6B4E4-7635-4E24-8898-89CA0378919E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844199" y="4710493"/>
              <a:ext cx="0" cy="82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BC4CE566-48B6-4C6E-911D-A49617A89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709479" y="4338102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2">
              <a:extLst>
                <a:ext uri="{FF2B5EF4-FFF2-40B4-BE49-F238E27FC236}">
                  <a16:creationId xmlns:a16="http://schemas.microsoft.com/office/drawing/2014/main" id="{DEF6DF47-A210-4FEE-A1C8-43DC4FD332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690767" y="5529453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1068CE2-96DF-4B59-BE62-0B0B85827D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79944" y="4499838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162281F-5E81-498E-BC6F-DCE42C49448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505443" y="4301257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0411388-6D9E-4DF5-A578-9F8512293BD1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510062" y="549274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72D34FDC-F9E8-4EC6-B0E3-FCFE0F5C9D2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479879" y="4282784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3352402F-6851-4967-9D06-8C03FBE3C339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484498" y="5474275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F90DF71B-120A-4FDD-A3A5-280F610567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871" y="4476747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119355B1-67A4-49F0-AD18-D8DD9131B45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6079399" y="4701257"/>
              <a:ext cx="0" cy="82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576396DC-2F60-4D2E-970B-B8F3DD4FFB62}"/>
                </a:ext>
              </a:extLst>
            </p:cNvPr>
            <p:cNvSpPr/>
            <p:nvPr/>
          </p:nvSpPr>
          <p:spPr>
            <a:xfrm flipH="1">
              <a:off x="6498250" y="501601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412E35-5A53-4140-BFB0-2B4AB46B5151}"/>
                </a:ext>
              </a:extLst>
            </p:cNvPr>
            <p:cNvSpPr txBox="1"/>
            <p:nvPr/>
          </p:nvSpPr>
          <p:spPr>
            <a:xfrm>
              <a:off x="2419472" y="4612879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A8447F0-D574-4EF4-8AD0-8CE270284B05}"/>
                </a:ext>
              </a:extLst>
            </p:cNvPr>
            <p:cNvSpPr txBox="1"/>
            <p:nvPr/>
          </p:nvSpPr>
          <p:spPr>
            <a:xfrm>
              <a:off x="2422708" y="5777707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6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ADB5AA-0A53-426A-9407-7F43C1923933}"/>
                </a:ext>
              </a:extLst>
            </p:cNvPr>
            <p:cNvSpPr txBox="1"/>
            <p:nvPr/>
          </p:nvSpPr>
          <p:spPr>
            <a:xfrm>
              <a:off x="4662527" y="5796180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10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C06DE3A-E25B-4E7B-B45A-E52DCBFE545D}"/>
                </a:ext>
              </a:extLst>
            </p:cNvPr>
            <p:cNvSpPr txBox="1"/>
            <p:nvPr/>
          </p:nvSpPr>
          <p:spPr>
            <a:xfrm>
              <a:off x="4697878" y="3930352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10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323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/>
              <p:nvPr/>
            </p:nvSpPr>
            <p:spPr>
              <a:xfrm>
                <a:off x="107504" y="404664"/>
                <a:ext cx="895735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44.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줄의 법칙에서 발생하는 열량의 계산식이 옳은 것은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1" dirty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ko-KR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altLang="ko-KR" i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0.024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ko-KR" i="0" baseline="3000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endParaRPr lang="en-US" altLang="ko-KR" i="1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②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1" dirty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ko-KR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0.24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ko-KR" i="0" baseline="3000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endParaRPr lang="en-US" altLang="ko-KR" i="1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③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1" dirty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ko-KR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0.024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endParaRPr lang="en-US" altLang="ko-KR" i="1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④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1" dirty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ko-KR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0.24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b="0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endParaRPr lang="en-US" altLang="ko-KR" i="1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45.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어떤 도체에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10[V]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전위를 주었을 때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1[C]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전하가 축적되었다면 이 도체의 정전용량은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0.1[</a:t>
                </a:r>
                <a:r>
                  <a:rPr lang="el-GR" altLang="ko-KR" i="1" dirty="0">
                    <a:latin typeface="Times New Roman" panose="02020603050405020304" pitchFamily="18" charset="0"/>
                    <a:ea typeface="굴림" panose="020B0600000101010101" pitchFamily="50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굴림" panose="020B0600000101010101" pitchFamily="50" charset="-127"/>
                    <a:cs typeface="Times New Roman" panose="02020603050405020304" pitchFamily="18" charset="0"/>
                  </a:rPr>
                  <a:t>F]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0.1[F]       ③ 0.1[pF]        ④ 10[F]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46. 5[Ω]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저항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3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개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, 7[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저항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5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개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, 100[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저항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개가 있다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이들을 모두 직렬 접속 할 때 합성 저항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75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50       ③ 150        ④ 100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47. C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=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5[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F]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와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=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10[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F]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인 </a:t>
                </a:r>
                <a:r>
                  <a:rPr lang="ko-KR" altLang="en-US" dirty="0" err="1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콘데서를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병렬로 접속한 다음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100[V]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전압을 가했을 때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에 분배되는 전하량은 몇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C]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인가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500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1,000       ③ 1,500        ④ 2,000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4664"/>
                <a:ext cx="8957356" cy="5632311"/>
              </a:xfrm>
              <a:prstGeom prst="rect">
                <a:avLst/>
              </a:prstGeom>
              <a:blipFill>
                <a:blip r:embed="rId4"/>
                <a:stretch>
                  <a:fillRect l="-613" t="-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047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금속을 접속하여 여기에 전류를 흘리면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줄열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외에 그 접점에서 열의 발생 또는 흡수가 일어나는 현상은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 효과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홀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제베크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펠티에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49. 220[V], 1.5[kW]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전구를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 점등했다면 전력량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[kWh]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20       ③ 30        ④ 60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50.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종류가 다른 두 금속을 접합하여 폐회로를 만들고 두 접합점의 온도를 다르게 하면 이 폐회로에 기전력이 발생하여 전류가 흐르게 되는 현상을 지칭하는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줄의법칙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톰슨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펠티에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제베크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51. 30[Ah]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축전지를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로 사용하면 몇 시간 사용 가능한가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3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545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52. 30[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40 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콘덴서를 병렬로 접속한 후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100[V]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전압을 가했을 때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전전하량은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17×10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34×10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56×10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70×10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53.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콘덴서의 정전용량을 크게 하는 방법으로 옳지 않는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간격을 작게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사이에 비유전율이 큰 유전체를 삽입한다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면적을 크게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면적을 작게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54.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기전력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1.5[V],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내부저항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0.1[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 전지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직렬로 연결하고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2[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저항을 가진 전구에 연결할 때 전구에 흐르는 전류는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3       ③ 4        ④ 5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195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55.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전압계 및 전류계의 측정 범위를 넓히기 위하여 사용하는 배율기와 분류기의 접속 방법은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배율기는 전압계와 병렬 접속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분류기는 전류계와 직렬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배율기는 전압계와 직렬 접속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분류기는 전류계와 병렬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 및 분류기 모두 전압계와 전류계에 직렬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 및 분류기 모두 전압계와 전류계에 병렬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56.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전위의 단위로 맞지 않는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[V]     ② [J/C]      ③ [</a:t>
            </a:r>
            <a:r>
              <a:rPr lang="en-US" altLang="ko-KR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dirty="0" err="1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•m</a:t>
            </a:r>
            <a:r>
              <a:rPr lang="en-US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/C]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④ [V/m]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57.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일반적으로 절연체를 서로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마찰시키면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이들 물체는 전기를 띠게 된다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이와 같은 현상은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분극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정전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대전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코로나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다음 중 옴의 법칙을 바르게 설명한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전압은 저항에 반비례한다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전압은 전류에 반비례한다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전압은 전류의 제곱에 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전압은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전류의 곱에 비례한다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59.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전기력선에 대한 설명으로 틀린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같은 전기력선은 흡인한다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서로 교차하지 않는다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도체의 표면에 수직으로 출입한다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전기력선은 양전하의 표면에서 나와 음전하의 표면에서 끝난다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60. 30[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40 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콘덴서를 병렬로 접속한 후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100[V]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전압을 가했을 때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전전하량은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70×10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17×10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③ 56×10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34×10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61. 1[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콘덴서에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30[kV]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전압을 가하며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저항을 통해 방전시키면 이때 발생하는 에너지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 얼마인가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450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900       ③ 1,000        ④ 1,200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62.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전위의 단위로 맞지 않는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[V]     ② [J/C]      ③ [</a:t>
            </a:r>
            <a:r>
              <a:rPr lang="en-US" altLang="ko-KR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dirty="0" err="1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•m</a:t>
            </a:r>
            <a:r>
              <a:rPr lang="en-US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/C]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④ [V/m]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732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63.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음전하와 양전하로 대전된 도체를 가느다란 전선으로 연결하면 양전하가 음전하를 끌어당겨 중화가 된다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이때 전선에 무엇이 흐르는가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전력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64. 1[kWh]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와 같은 값은 어느 것인가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3.6×10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65.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전압계 및 전류계의 측정 범위를 넓히기 위하여 사용하는 배율기와 분류기의 접속 방법은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배율기는 전압계와 병렬 접속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분류기는 전류계와 직렬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배율기는 전압계와 직렬 접속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분류기는 전류계와 병렬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 및 분류기 모두 전압계와 전류계에 직렬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 및 분류기 모두 전압계와 전류계에 병렬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66.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전위의 단위로 맞지 않는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[V]     ② [J/C]      ③ [</a:t>
            </a:r>
            <a:r>
              <a:rPr lang="en-US" altLang="ko-KR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dirty="0" err="1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•m</a:t>
            </a:r>
            <a:r>
              <a:rPr lang="en-US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/C]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④ [V/m]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392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66. 100[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콘덴서에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1,000[V]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전압을 가하여 충전한 뒤 저항을 통하여 방전시키는 에너지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25     ② 50      ③ 100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10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67.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콘덴서의 정전용량을 크게 하는 방법으로 옳지 않는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간격을 작게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사이에 비유전율이 큰 유전체를 삽입한다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면적을 크게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유전율을 작게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기전력이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1.5[V] 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부하저항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 전구에 접속하였을 때 전구에 흐르는 전류는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내부 저항은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)?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1.5      ② 2      ③ 3      ④ 2.5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69.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금속을 접속하여 여기에 온도차가 발생하면 그 접점에서 기전력이 발생하여 전류가 흐르는 현상은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홀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제베크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펠티에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44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70.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황산구리 용액에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분간 흘린 경우 이때 석출되는 구리의 양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[g]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구리의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저기화학당량은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0.3293×10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[g/C]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약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11.86    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약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5.93     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약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7.82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약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1.67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71.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전장의 단위로 맞는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[V]     ② [J/C]      ③ [</a:t>
            </a:r>
            <a:r>
              <a:rPr lang="en-US" altLang="ko-KR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dirty="0" err="1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•m</a:t>
            </a:r>
            <a:r>
              <a:rPr lang="en-US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/C]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[V/m]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72.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기전력이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1.5[V] 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부하저항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 전구에 접속하였을 때 전구에 흐르는 전류는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내부 저항은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)?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1.5      ② 2      ③ 3      ④ 2.5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73.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전하의 성질에 대한 설명 중 옳지 않는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대전체에 들어 있는 전하를 없애려면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접지시킨다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같은 종류의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전하끼리는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흡인하고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다른 종류의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전하끼리는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반발한다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전하는 가장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안정항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상태를 유지하려는 성질이 있다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비대전체에 대전체를 갖다 대면 비대전체에 전하가 유도되며 이를 정전 유도현상이라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015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/>
              <p:nvPr/>
            </p:nvSpPr>
            <p:spPr>
              <a:xfrm>
                <a:off x="107504" y="404664"/>
                <a:ext cx="8957356" cy="5494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74.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공기 중에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10[</a:t>
                </a:r>
                <a:r>
                  <a:rPr lang="el-GR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C]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과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20[</a:t>
                </a:r>
                <a:r>
                  <a:rPr lang="el-GR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C]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를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1[m]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간격으로 놓을 때 발생되는 </a:t>
                </a:r>
                <a:r>
                  <a:rPr lang="ko-KR" altLang="en-US" dirty="0" err="1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정전력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[N]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3.8     ② 2.2      ③ 1.8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④ 6.3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75.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전장의 단위로 맞는 것은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[V]     ② [J/C]      ③ [</a:t>
                </a:r>
                <a:r>
                  <a:rPr lang="en-US" altLang="ko-KR" dirty="0" err="1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en-US" altLang="ko-KR" dirty="0" err="1">
                    <a:latin typeface="Times New Roman" panose="02020603050405020304" pitchFamily="18" charset="0"/>
                    <a:ea typeface="굴림" panose="020B0600000101010101" pitchFamily="50" charset="-127"/>
                    <a:cs typeface="Times New Roman" panose="02020603050405020304" pitchFamily="18" charset="0"/>
                  </a:rPr>
                  <a:t>•m</a:t>
                </a:r>
                <a:r>
                  <a:rPr lang="en-US" altLang="ko-KR" dirty="0">
                    <a:latin typeface="Times New Roman" panose="02020603050405020304" pitchFamily="18" charset="0"/>
                    <a:ea typeface="굴림" panose="020B0600000101010101" pitchFamily="50" charset="-127"/>
                    <a:cs typeface="Times New Roman" panose="02020603050405020304" pitchFamily="18" charset="0"/>
                  </a:rPr>
                  <a:t>/C]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④ [V/m]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76. 1[</a:t>
                </a:r>
                <a:r>
                  <a:rPr lang="el-GR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μ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F]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콘덴서에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30[kV]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전압을 가하며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200[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의 저항을 통해 방전시키면 이때 발생하는 에너지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[J]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은 얼마인가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450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② 900       ③ 1,000        ④ 1,200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77.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전지의 기전력이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1.5[V] 5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개를 부하저항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2.5[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인 전구에 접속하였을 때 전구에 흐르는 전류는 몇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[A]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인가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단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전지의 내부 저항은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0.5[</a:t>
                </a:r>
                <a:r>
                  <a:rPr lang="el-GR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이다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)?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① 1.5      ② 2      ③ 3      ④ 2.5</a:t>
                </a: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78.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전극에서 석출되는 물질의 양이 </a:t>
                </a:r>
                <a:r>
                  <a:rPr lang="en-US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W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[g]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이 있다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. </a:t>
                </a:r>
                <a:r>
                  <a:rPr lang="en-US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t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[sec] 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동안 </a:t>
                </a:r>
                <a:r>
                  <a:rPr lang="en-US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[A]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를 흘려줬다면 물질의 양은 얼마인가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? (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단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k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는 비례 상수이다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</a:t>
                </a:r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①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1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ko-KR" b="0" i="1" dirty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1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b="0" i="1" dirty="0" smtClean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ko-KR" b="0" i="1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I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t</m:t>
                        </m:r>
                      </m:den>
                    </m:f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②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1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ko-KR" i="1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</m:t>
                    </m:r>
                  </m:oMath>
                </a14:m>
                <a:r>
                  <a:rPr lang="en-US" altLang="ko-KR" i="1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k I t    </a:t>
                </a:r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③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0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ko-KR" i="0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i="1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I</m:t>
                        </m:r>
                      </m:den>
                    </m:f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ea typeface="HY견명조" panose="02030600000101010101" pitchFamily="18" charset="-127"/>
                    <a:cs typeface="Times New Roman" panose="02020603050405020304" pitchFamily="18" charset="0"/>
                  </a:rPr>
                  <a:t>      ④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0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ko-KR" i="0" dirty="0">
                        <a:latin typeface="Times New Roman" panose="02020603050405020304" pitchFamily="18" charset="0"/>
                        <a:ea typeface="HY견명조" panose="02030600000101010101" pitchFamily="18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i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i="1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ko-KR" b="0" i="1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ko-KR" b="0" i="1" smtClean="0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i="1">
                            <a:latin typeface="Times New Roman" panose="02020603050405020304" pitchFamily="18" charset="0"/>
                            <a:ea typeface="HY견명조" panose="02030600000101010101" pitchFamily="18" charset="-127"/>
                            <a:cs typeface="Times New Roman" panose="020206030504050203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ea typeface="HY견명조" panose="02030600000101010101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31B56E-328D-42BF-B190-6F628DBF7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4664"/>
                <a:ext cx="8957356" cy="5494517"/>
              </a:xfrm>
              <a:prstGeom prst="rect">
                <a:avLst/>
              </a:prstGeom>
              <a:blipFill>
                <a:blip r:embed="rId4"/>
                <a:stretch>
                  <a:fillRect l="-613" t="-7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663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79.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동일한 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접속하여 얻을 수 있는 최대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저항값은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최소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저항값의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몇 배인가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① 4     ② 16      ③ 8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2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80.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기전력이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1.5[V] 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부하저항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 전구에 접속하였을 때 전구에 흐르는 전류는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내부 저항은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)?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1.5      ② 2      ③ 3      ④ 2.5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81. 30[Ah]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축전지를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로 사용하면 몇 시간 사용 가능한가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3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82. 30[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40 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콘덴서를 병렬로 접속한 후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100[V]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전압을 가했을 때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전전하량은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17×10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34×10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③ 56×10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70×10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-4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83.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콘덴서의 정전용량을 크게 하는 방법으로 옳지 않는 것은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간격을 작게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사이에 비유전율이 큰 유전체를 삽입한다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면적을 크게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극판의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면적을 작게 한다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022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84.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전압계 및 전류계의 측정 범위를 넓히기 위하여 사용하는 배율기와 분류기의 접속 방법은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배율기는 전압계와 병렬 접속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분류기는 전류계와 직렬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배율기는 전압계와 직렬 접속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분류기는 전류계와 병렬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 및 분류기 모두 전압계와 전류계에 직렬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배율기 및 분류기 모두 전압계와 전류계에 병렬 접속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85. 1[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콘덴서에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30[kV]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전압을 가하며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저항을 통해 방전시키면 이때 발생하는 에너지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 얼마인가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450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900       ③ 1,000        ④ 1,200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86.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금속을 접합하여 이 접합점에 전류를 흘려주면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줄열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외에 그 접점에서 열의 발생 또는 흡수가 발생하는 현상을 무슨 효과라 하는가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줄효과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홀효과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제베크효과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펠티에효과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87. 200[V], 30[W],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전등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 사용하였다면 사용 전력량은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[kWh]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12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6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③ 3        ④ 2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837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중성 상태의 도체에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(-)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로 대전된 물체를 가까이 갖다 대면 그림과 같이 음과 양으로 전하가 분리되는 현상을 무엇이라고 하는가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자기 차폐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정전 유도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홀효과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분극 현상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89. 10[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접속하여 얻을 수 있는 가장 작은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저항값은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2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4       ③ 1        ④ 5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90. 1[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F]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콘덴서에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30[kV]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전압을 가하며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저항을 통해 방전시키면 이때 발생하는 에너지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[J]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 얼마인가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450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900       ③ 1,000        ④ 1,200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91.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기전력이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1.5[V] 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부하저항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 전구에 접속하였을 때 전구에 흐르는 전류는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전지의 내부 저항은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0.5[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)?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1.5      ② 2      ③ 3      ④ 2.5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92.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진공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중에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20[</a:t>
            </a:r>
            <a:r>
              <a:rPr lang="el-GR" altLang="ko-KR" i="1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점전하를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1[m]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거리로 놓았을 때 작용하는 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[N]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18×10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2×10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9.8×10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-9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④ 98×10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-9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936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93. 3[kW]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전열기를 정격 상태에서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분간 사용하였을 때 열량은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[kcal]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430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② 520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③ 610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860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94. 4[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200[V]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전압을 인가할 때 소비되는 전력은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20[W]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400[W]       ③ 2.5[W]        ④ 10[kW]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95.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유전율의 단위는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[F/m]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[V/m]       ③ [C/m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        ④ [H/m]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96. 200[V], 50[W]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전등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시간 사용하였다면 사용 전력량은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[kWh]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5      ② 6      ③ 7      ④ 10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253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97.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그림과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같은 회로에서 합성 저항은 몇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인가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6.6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7.4       ③ 8.7        ④ 9.4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98.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두 금속을 접속하여 여기에 전류를 흘리면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줄열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외에 그 접점에서 열의 발생 또는 흡수가 일어나는 현상은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줄 효과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홀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③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제베크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④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펠티에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효과</a:t>
            </a:r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BB627E0-4928-491C-9766-7045066779A9}"/>
              </a:ext>
            </a:extLst>
          </p:cNvPr>
          <p:cNvGrpSpPr/>
          <p:nvPr/>
        </p:nvGrpSpPr>
        <p:grpSpPr>
          <a:xfrm>
            <a:off x="1475656" y="1101507"/>
            <a:ext cx="5643309" cy="2327493"/>
            <a:chOff x="1034941" y="3930352"/>
            <a:chExt cx="5643309" cy="2327493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C19F435B-46C4-47AE-9E01-E5234331EB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474279" y="4347338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7786F13-C1D3-4024-8C41-CBBCD939C710}"/>
                </a:ext>
              </a:extLst>
            </p:cNvPr>
            <p:cNvSpPr/>
            <p:nvPr/>
          </p:nvSpPr>
          <p:spPr>
            <a:xfrm flipH="1">
              <a:off x="1034941" y="5094528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C76107A-1F7D-4CA4-9D3D-E402B5EC3117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632090" y="4752056"/>
              <a:ext cx="0" cy="82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AF175B59-1508-40CE-BDEA-EEFEB0CE5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455567" y="5538689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2299BB4-B388-40A3-BEE4-B1E88AAC4D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4744" y="4509074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B33BE7CA-84E4-4636-B1AD-545BC0BCA8F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270243" y="4310493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AEBA5F3-A6F4-4B35-A41C-D3EFCF0366E4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274862" y="5501984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3E0E972-49D2-4AAF-966D-6C507C69EB6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244679" y="429202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C1C3B29-F216-4E8F-88DA-B1D2F7BDFFC5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249298" y="5483511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35200EB-D726-4102-92FF-039835F518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671" y="4485983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5958D4CD-F42B-4D0F-B9AE-2373D745AEC4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844199" y="4710493"/>
              <a:ext cx="0" cy="82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ADDE6E1D-D1D6-4315-A048-852576EF3D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709479" y="4338102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D8AEFE7A-CD69-466B-8597-72BE865637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690767" y="5529453"/>
              <a:ext cx="585553" cy="33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324C08B-8E18-418B-8825-626559CD39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79944" y="4499838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79F92DD-D11E-4792-8872-F6E27D38BA47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505443" y="4301257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9BC5D59-C396-4B56-869A-FD66EFFD9D5C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510062" y="549274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C5D5413-FFD8-43E9-98D5-0C01F6BC036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479879" y="4282784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FFAFA064-2A77-491A-8441-504992629473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484498" y="5474275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20B3B9C3-1330-416B-B164-1A89D42A98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871" y="4476747"/>
              <a:ext cx="0" cy="122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C9FADE6-5A5D-44D5-BBC9-6F87238A3D79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6079399" y="4701257"/>
              <a:ext cx="0" cy="82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F5B80FC-A398-4B69-A715-BA49DABA3E75}"/>
                </a:ext>
              </a:extLst>
            </p:cNvPr>
            <p:cNvSpPr/>
            <p:nvPr/>
          </p:nvSpPr>
          <p:spPr>
            <a:xfrm flipH="1">
              <a:off x="6498250" y="501601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72F9D2-0B4E-4DE7-9007-D61EB989D528}"/>
                </a:ext>
              </a:extLst>
            </p:cNvPr>
            <p:cNvSpPr txBox="1"/>
            <p:nvPr/>
          </p:nvSpPr>
          <p:spPr>
            <a:xfrm>
              <a:off x="2419472" y="4612879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231906-DE29-4AD5-B083-8F7A602673B3}"/>
                </a:ext>
              </a:extLst>
            </p:cNvPr>
            <p:cNvSpPr txBox="1"/>
            <p:nvPr/>
          </p:nvSpPr>
          <p:spPr>
            <a:xfrm>
              <a:off x="2422708" y="5777707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6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B2AE39-7EB4-4941-87FB-5590573C470C}"/>
                </a:ext>
              </a:extLst>
            </p:cNvPr>
            <p:cNvSpPr txBox="1"/>
            <p:nvPr/>
          </p:nvSpPr>
          <p:spPr>
            <a:xfrm>
              <a:off x="4662527" y="5796180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10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351BE58-2D57-4D97-983B-E4A7B3381495}"/>
                </a:ext>
              </a:extLst>
            </p:cNvPr>
            <p:cNvSpPr txBox="1"/>
            <p:nvPr/>
          </p:nvSpPr>
          <p:spPr>
            <a:xfrm>
              <a:off x="4697878" y="3930352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latin typeface="Times New Roman" pitchFamily="18" charset="0"/>
                  <a:cs typeface="Times New Roman" pitchFamily="18" charset="0"/>
                </a:rPr>
                <a:t>10 </a:t>
              </a:r>
              <a:r>
                <a:rPr lang="en-US" altLang="ko-KR" sz="2400" b="1" dirty="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9285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140" y="1772816"/>
            <a:ext cx="878497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</a:t>
            </a:r>
          </a:p>
          <a:p>
            <a:pPr fontAlgn="base" latinLnBrk="0"/>
            <a:r>
              <a:rPr lang="en-US" altLang="ko-KR" sz="2200" dirty="0"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ea"/>
                <a:ea typeface="+mj-ea"/>
              </a:rPr>
              <a:t>   </a:t>
            </a:r>
            <a:endParaRPr lang="en-US" altLang="ko-KR" sz="2000" baseline="-25000" dirty="0">
              <a:latin typeface="+mj-ea"/>
              <a:ea typeface="+mj-ea"/>
            </a:endParaRPr>
          </a:p>
          <a:p>
            <a:pPr fontAlgn="base" latinLnBrk="0"/>
            <a:endParaRPr lang="en-US" altLang="ko-KR" sz="2000" baseline="-25000" dirty="0">
              <a:latin typeface="+mj-ea"/>
              <a:ea typeface="+mj-ea"/>
              <a:cs typeface="Times New Roman" pitchFamily="18" charset="0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6225915"/>
            <a:ext cx="9144000" cy="0"/>
          </a:xfrm>
          <a:prstGeom prst="line">
            <a:avLst/>
          </a:prstGeom>
          <a:ln/>
          <a:effectLst>
            <a:glow rad="63500">
              <a:srgbClr val="FFFF00">
                <a:alpha val="40000"/>
              </a:srgb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11B8CCA-9DE9-498A-BB9B-CBBA32993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33" y="6275131"/>
            <a:ext cx="1528827" cy="5382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31B56E-328D-42BF-B190-6F628DBF7FAA}"/>
              </a:ext>
            </a:extLst>
          </p:cNvPr>
          <p:cNvSpPr txBox="1"/>
          <p:nvPr/>
        </p:nvSpPr>
        <p:spPr>
          <a:xfrm>
            <a:off x="107504" y="404664"/>
            <a:ext cx="89573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99. 5[Ω]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7[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100[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개가 있다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이들을 모두 직렬 접속 할 때 합성 저항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</a:t>
            </a:r>
            <a:r>
              <a:rPr lang="el-GR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Ω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75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② 50       ③ 150        ④ 100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100.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황산구리 용액에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10[A]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의 전류를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60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분간 흘린 경우 이때 석출되는 구리의 양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[g]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? (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단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구리의 </a:t>
            </a:r>
            <a:r>
              <a:rPr lang="ko-KR" altLang="en-US" dirty="0" err="1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저기화학당량은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0.3293×10</a:t>
            </a:r>
            <a:r>
              <a:rPr lang="en-US" altLang="ko-KR" baseline="30000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-3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[g/C]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이다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① 11.86     ② 7.82      ③ 5.93</a:t>
            </a:r>
            <a:r>
              <a:rPr lang="ko-KR" altLang="en-US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   </a:t>
            </a:r>
            <a:r>
              <a:rPr lang="en-US" altLang="ko-KR" dirty="0">
                <a:latin typeface="Times New Roman" panose="02020603050405020304" pitchFamily="18" charset="0"/>
                <a:ea typeface="HY견명조" panose="02030600000101010101" pitchFamily="18" charset="-127"/>
                <a:cs typeface="Times New Roman" panose="02020603050405020304" pitchFamily="18" charset="0"/>
              </a:rPr>
              <a:t> ④ 1.67</a:t>
            </a: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HY견명조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68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메트로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b="0" i="1" smtClean="0">
            <a:latin typeface="Cambria Math" panose="020405030504060302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10342</TotalTime>
  <Words>4148</Words>
  <Application>Microsoft Office PowerPoint</Application>
  <PresentationFormat>화면 슬라이드 쇼(4:3)</PresentationFormat>
  <Paragraphs>517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HY견명조</vt:lpstr>
      <vt:lpstr>굴림</vt:lpstr>
      <vt:lpstr>맑은 고딕</vt:lpstr>
      <vt:lpstr>Cambria Math</vt:lpstr>
      <vt:lpstr>Lucida Sans Unicode</vt:lpstr>
      <vt:lpstr>Times New Roman</vt:lpstr>
      <vt:lpstr>Verdana</vt:lpstr>
      <vt:lpstr>Wingdings 2</vt:lpstr>
      <vt:lpstr>Wingdings 3</vt:lpstr>
      <vt:lpstr>광장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투덜이</dc:creator>
  <cp:lastModifiedBy>user</cp:lastModifiedBy>
  <cp:revision>671</cp:revision>
  <cp:lastPrinted>2025-02-27T01:36:37Z</cp:lastPrinted>
  <dcterms:created xsi:type="dcterms:W3CDTF">2010-10-14T02:08:53Z</dcterms:created>
  <dcterms:modified xsi:type="dcterms:W3CDTF">2025-10-16T12:38:36Z</dcterms:modified>
</cp:coreProperties>
</file>